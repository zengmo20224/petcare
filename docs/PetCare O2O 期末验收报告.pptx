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handoutMasterIdLst>
    <p:handoutMasterId r:id="rId15"/>
  </p:handoutMasterIdLst>
  <p:sldIdLst>
    <p:sldId id="257" r:id="rId4"/>
    <p:sldId id="285" r:id="rId6"/>
    <p:sldId id="286" r:id="rId7"/>
    <p:sldId id="293" r:id="rId8"/>
    <p:sldId id="287" r:id="rId9"/>
    <p:sldId id="288" r:id="rId10"/>
    <p:sldId id="289" r:id="rId11"/>
    <p:sldId id="290" r:id="rId12"/>
    <p:sldId id="291" r:id="rId13"/>
    <p:sldId id="292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曹 红萍" initials="曹" lastIdx="0" clrIdx="0"/>
  <p:cmAuthor id="2" name="admin" initials="a" lastIdx="0" clrIdx="1"/>
  <p:cmAuthor id="3" name="c hx" initials="ch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28674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r>
              <a:rPr lang="zh-CN" altLang="en-US" dirty="0"/>
              <a:t>Java的名字的来源：Java是印度尼西亚爪哇岛的英文名称，因盛产咖啡而闻名。Java语言中的许多库类名称，多与咖啡有关，如JavaBeans(咖啡豆)、NetBeans(网络豆)以及ObjectBeans (对象豆)等等。SUN和JAVA的标识也正是一杯正冒着热气的咖啡。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254977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57347" name="文本占位符 254978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软件测试过程模型是软件测试的工作框架，指导软件测试全过程。</a:t>
            </a:r>
            <a:endParaRPr lang="zh-CN" altLang="en-US"/>
          </a:p>
          <a:p>
            <a:r>
              <a:rPr lang="zh-CN" altLang="en-US">
                <a:sym typeface="+mn-ea"/>
              </a:rPr>
              <a:t>这些模型描述了软件测试过程，同时体现了软件测试与开发的融合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96979"/>
            <a:ext cx="9144000" cy="1912983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solidFill>
                  <a:srgbClr val="1353A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9144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2_1.3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420688" y="-401637"/>
            <a:ext cx="0" cy="0"/>
          </a:xfrm>
          <a:prstGeom prst="line">
            <a:avLst/>
          </a:prstGeom>
          <a:ln w="1016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 flipH="1">
            <a:off x="11828463" y="3600450"/>
            <a:ext cx="363538" cy="3257550"/>
          </a:xfrm>
          <a:prstGeom prst="rect">
            <a:avLst/>
          </a:prstGeom>
          <a:solidFill>
            <a:srgbClr val="D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流程图: 决策 9"/>
          <p:cNvSpPr/>
          <p:nvPr userDrawn="1"/>
        </p:nvSpPr>
        <p:spPr>
          <a:xfrm>
            <a:off x="414647" y="671362"/>
            <a:ext cx="4040168" cy="3830497"/>
          </a:xfrm>
          <a:prstGeom prst="flowChartDecision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ffectLst>
            <a:innerShdw blurRad="241300" dist="266700" dir="13500000">
              <a:prstClr val="black">
                <a:alpha val="34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流程图: 决策 10"/>
          <p:cNvSpPr/>
          <p:nvPr userDrawn="1"/>
        </p:nvSpPr>
        <p:spPr>
          <a:xfrm>
            <a:off x="2720975" y="-527050"/>
            <a:ext cx="2203450" cy="2090738"/>
          </a:xfrm>
          <a:prstGeom prst="flowChartDecision">
            <a:avLst/>
          </a:prstGeom>
          <a:solidFill>
            <a:srgbClr val="D00000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流程图: 决策 11"/>
          <p:cNvSpPr/>
          <p:nvPr userDrawn="1"/>
        </p:nvSpPr>
        <p:spPr>
          <a:xfrm>
            <a:off x="-1882775" y="-1473200"/>
            <a:ext cx="4105275" cy="3890963"/>
          </a:xfrm>
          <a:prstGeom prst="flowChartDecision">
            <a:avLst/>
          </a:prstGeom>
          <a:solidFill>
            <a:srgbClr val="D00000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直角三角形 12"/>
          <p:cNvSpPr/>
          <p:nvPr userDrawn="1"/>
        </p:nvSpPr>
        <p:spPr>
          <a:xfrm rot="11796812">
            <a:off x="3533775" y="3949700"/>
            <a:ext cx="568325" cy="566738"/>
          </a:xfrm>
          <a:prstGeom prst="rtTriangle">
            <a:avLst/>
          </a:prstGeom>
          <a:solidFill>
            <a:srgbClr val="FF0000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直角三角形 13"/>
          <p:cNvSpPr/>
          <p:nvPr userDrawn="1"/>
        </p:nvSpPr>
        <p:spPr>
          <a:xfrm rot="6811469">
            <a:off x="4537075" y="2867025"/>
            <a:ext cx="568325" cy="568325"/>
          </a:xfrm>
          <a:prstGeom prst="rtTriangle">
            <a:avLst/>
          </a:prstGeom>
          <a:solidFill>
            <a:srgbClr val="FF0000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流程图: 决策 14"/>
          <p:cNvSpPr/>
          <p:nvPr userDrawn="1"/>
        </p:nvSpPr>
        <p:spPr>
          <a:xfrm>
            <a:off x="-1785937" y="2417763"/>
            <a:ext cx="2963863" cy="2811463"/>
          </a:xfrm>
          <a:prstGeom prst="flowChartDecision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8571015">
            <a:off x="3181350" y="4740275"/>
            <a:ext cx="382588" cy="382588"/>
          </a:xfrm>
          <a:prstGeom prst="rtTriangle">
            <a:avLst/>
          </a:prstGeom>
          <a:solidFill>
            <a:srgbClr val="FF0000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直角三角形 16"/>
          <p:cNvSpPr/>
          <p:nvPr userDrawn="1"/>
        </p:nvSpPr>
        <p:spPr>
          <a:xfrm rot="18571015">
            <a:off x="4733925" y="1373188"/>
            <a:ext cx="382588" cy="382588"/>
          </a:xfrm>
          <a:prstGeom prst="rtTriangle">
            <a:avLst/>
          </a:prstGeom>
          <a:solidFill>
            <a:srgbClr val="FF0000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流程图: 决策 17"/>
          <p:cNvSpPr/>
          <p:nvPr userDrawn="1"/>
        </p:nvSpPr>
        <p:spPr>
          <a:xfrm>
            <a:off x="1695450" y="5453063"/>
            <a:ext cx="2497138" cy="2366963"/>
          </a:xfrm>
          <a:prstGeom prst="flowChartDecision">
            <a:avLst/>
          </a:prstGeom>
          <a:solidFill>
            <a:srgbClr val="D00000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流程图: 决策 18"/>
          <p:cNvSpPr/>
          <p:nvPr userDrawn="1"/>
        </p:nvSpPr>
        <p:spPr>
          <a:xfrm>
            <a:off x="95057" y="4017333"/>
            <a:ext cx="2635915" cy="2499117"/>
          </a:xfrm>
          <a:prstGeom prst="flowChartDecision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  <a:effectLst>
            <a:innerShdw blurRad="241300" dist="266700" dir="13500000">
              <a:prstClr val="black">
                <a:alpha val="34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500370" y="2058670"/>
            <a:ext cx="5924550" cy="817245"/>
          </a:xfrm>
          <a:prstGeom prst="rect">
            <a:avLst/>
          </a:prstGeom>
          <a:noFill/>
          <a:ln w="12700" cmpd="sng">
            <a:noFill/>
            <a:prstDash val="dash"/>
          </a:ln>
          <a:effectLst>
            <a:glow rad="546100">
              <a:schemeClr val="accent4">
                <a:lumMod val="20000"/>
                <a:lumOff val="80000"/>
                <a:alpha val="20000"/>
              </a:schemeClr>
            </a:glow>
          </a:effectLst>
        </p:spPr>
        <p:txBody>
          <a:bodyPr/>
          <a:lstStyle>
            <a:lvl1pPr>
              <a:defRPr sz="4400" b="1" u="none" strike="noStrike" kern="1200" cap="none" spc="0" normalizeH="0">
                <a:solidFill>
                  <a:srgbClr val="C00000"/>
                </a:solidFill>
                <a:uFillTx/>
              </a:defRPr>
            </a:lvl1pPr>
          </a:lstStyle>
          <a:p>
            <a:pPr fontAlgn="base"/>
            <a:r>
              <a:rPr lang="zh-CN" altLang="en-US" strike="noStrike" noProof="1">
                <a:sym typeface="+mn-ea"/>
              </a:rPr>
              <a:t>单击此处编辑母版标题样式</a:t>
            </a:r>
            <a:endParaRPr lang="zh-CN" altLang="en-US" strike="noStrike" noProof="1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6174740" y="4885690"/>
            <a:ext cx="3475990" cy="4140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21" name="日期占位符 2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18A2B6-2761-43A0-99F3-03EDF1B585E0}" type="datetimeFigureOut">
              <a:rPr kumimoji="0" lang="zh-CN" altLang="en-US" sz="18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" name="页脚占位符 3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pic>
        <p:nvPicPr>
          <p:cNvPr id="3" name="图片 2" descr="广州南方学院校徽（白色圆徽）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8470" y="-24130"/>
            <a:ext cx="1316355" cy="1316355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1.2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.2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Line 4"/>
          <p:cNvSpPr/>
          <p:nvPr userDrawn="1"/>
        </p:nvSpPr>
        <p:spPr>
          <a:xfrm flipV="1">
            <a:off x="2160588" y="1104900"/>
            <a:ext cx="9523412" cy="12700"/>
          </a:xfrm>
          <a:prstGeom prst="line">
            <a:avLst/>
          </a:prstGeom>
          <a:ln w="1270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1753870" y="1222375"/>
            <a:ext cx="10297160" cy="4526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eaLnBrk="1" fontAlgn="auto" latinLnBrk="0" hangingPunct="1">
              <a:lnSpc>
                <a:spcPct val="150000"/>
              </a:lnSpc>
              <a:spcBef>
                <a:spcPts val="0"/>
              </a:spcBef>
              <a:buClr>
                <a:srgbClr val="3034E8"/>
              </a:buClr>
              <a:buFont typeface="Wingdings" panose="05000000000000000000" charset="0"/>
              <a:buChar char="v"/>
              <a:defRPr sz="2800"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algn="l">
              <a:buClr>
                <a:srgbClr val="FF00FF"/>
              </a:buClr>
              <a:buFont typeface="Wingdings" panose="05000000000000000000" charset="0"/>
              <a:buChar char="Ø"/>
              <a:defRPr sz="2400"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2pPr>
            <a:lvl3pPr algn="l">
              <a:buClr>
                <a:srgbClr val="FFFF00"/>
              </a:buClr>
              <a:buFont typeface="Wingdings" panose="05000000000000000000" charset="0"/>
              <a:buChar char="l"/>
              <a:defRPr sz="2000"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3pPr>
            <a:lvl4pPr algn="l">
              <a:buClr>
                <a:srgbClr val="00B050"/>
              </a:buClr>
              <a:buFont typeface="Wingdings" panose="05000000000000000000" charset="0"/>
              <a:buChar char="ü"/>
              <a:defRPr sz="1800"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4pPr>
            <a:lvl5pPr algn="l">
              <a:buClr>
                <a:srgbClr val="FF0000"/>
              </a:buClr>
              <a:buFont typeface="Wingdings" panose="05000000000000000000" charset="0"/>
              <a:buChar char="p"/>
              <a:defRPr sz="1800"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  <a:p>
            <a:pPr lvl="3" fontAlgn="base"/>
            <a:endParaRPr lang="zh-CN" altLang="en-US" strike="noStrike" noProof="1"/>
          </a:p>
        </p:txBody>
      </p:sp>
      <p:sp>
        <p:nvSpPr>
          <p:cNvPr id="6" name="流程图: 决策 5"/>
          <p:cNvSpPr/>
          <p:nvPr userDrawn="1"/>
        </p:nvSpPr>
        <p:spPr>
          <a:xfrm>
            <a:off x="0" y="-477520"/>
            <a:ext cx="1933575" cy="1898650"/>
          </a:xfrm>
          <a:prstGeom prst="flowChartDecision">
            <a:avLst/>
          </a:prstGeom>
          <a:solidFill>
            <a:srgbClr val="D00000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2160270" y="396240"/>
            <a:ext cx="7929245" cy="6477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32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pic>
        <p:nvPicPr>
          <p:cNvPr id="13" name="图片 12" descr="广州南方学院校徽（白色圆徽）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670" y="-27305"/>
            <a:ext cx="1149350" cy="11493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段文本_1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1219200" y="2590800"/>
            <a:ext cx="9753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1219200" y="3352800"/>
            <a:ext cx="9753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1.2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Line 4"/>
          <p:cNvSpPr/>
          <p:nvPr userDrawn="1"/>
        </p:nvSpPr>
        <p:spPr>
          <a:xfrm flipV="1">
            <a:off x="2160588" y="1104900"/>
            <a:ext cx="9523412" cy="12700"/>
          </a:xfrm>
          <a:prstGeom prst="line">
            <a:avLst/>
          </a:prstGeom>
          <a:ln w="1270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" name="流程图: 决策 1"/>
          <p:cNvSpPr/>
          <p:nvPr userDrawn="1"/>
        </p:nvSpPr>
        <p:spPr>
          <a:xfrm>
            <a:off x="0" y="-432117"/>
            <a:ext cx="2205038" cy="2090738"/>
          </a:xfrm>
          <a:prstGeom prst="flowChartDecision">
            <a:avLst/>
          </a:prstGeom>
          <a:solidFill>
            <a:srgbClr val="D00000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3" name="图片 12" descr="广州南方学院校徽（白色圆徽）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8470" y="-3810"/>
            <a:ext cx="1316355" cy="13163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535"/>
            <a:ext cx="10363200" cy="1470101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400"/>
            <a:ext cx="8534400" cy="175269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835" indent="0" algn="ctr">
              <a:buNone/>
              <a:defRPr/>
            </a:lvl7pPr>
            <a:lvl8pPr marL="3201035" indent="0" algn="ctr">
              <a:buNone/>
              <a:defRPr/>
            </a:lvl8pPr>
            <a:lvl9pPr marL="3658235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7127"/>
            <a:ext cx="10363200" cy="136214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863"/>
            <a:ext cx="10363200" cy="1500264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835" indent="0">
              <a:buNone/>
              <a:defRPr sz="1400"/>
            </a:lvl7pPr>
            <a:lvl8pPr marL="3201035" indent="0">
              <a:buNone/>
              <a:defRPr sz="1400"/>
            </a:lvl8pPr>
            <a:lvl9pPr marL="3658235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3551" y="1905098"/>
            <a:ext cx="5507567" cy="464843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4317" y="1905098"/>
            <a:ext cx="5509683" cy="464843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52"/>
            <a:ext cx="10972800" cy="1143059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92"/>
            <a:ext cx="5386917" cy="6397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987"/>
            <a:ext cx="5386917" cy="395149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92"/>
            <a:ext cx="5389033" cy="6397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987"/>
            <a:ext cx="5389033" cy="395149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64"/>
            <a:ext cx="4011084" cy="116211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64"/>
            <a:ext cx="6815667" cy="585341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74"/>
            <a:ext cx="4011084" cy="46913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835" indent="0">
              <a:buNone/>
              <a:defRPr sz="900"/>
            </a:lvl7pPr>
            <a:lvl8pPr marL="3201035" indent="0">
              <a:buNone/>
              <a:defRPr sz="900"/>
            </a:lvl8pPr>
            <a:lvl9pPr marL="3658235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847"/>
            <a:ext cx="7315200" cy="566767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807"/>
            <a:ext cx="7315200" cy="4115012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835" indent="0">
              <a:buNone/>
              <a:defRPr sz="2000"/>
            </a:lvl7pPr>
            <a:lvl8pPr marL="3201035" indent="0">
              <a:buNone/>
              <a:defRPr sz="2000"/>
            </a:lvl8pPr>
            <a:lvl9pPr marL="3658235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9900"/>
              </a:buClr>
              <a:buSzPct val="110000"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614"/>
            <a:ext cx="7315200" cy="80490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835" indent="0">
              <a:buNone/>
              <a:defRPr sz="900"/>
            </a:lvl7pPr>
            <a:lvl8pPr marL="3201035" indent="0">
              <a:buNone/>
              <a:defRPr sz="900"/>
            </a:lvl8pPr>
            <a:lvl9pPr marL="3658235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64600" y="425472"/>
            <a:ext cx="2819400" cy="612806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06400" y="425472"/>
            <a:ext cx="8255000" cy="612806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719"/>
            <a:ext cx="5181600" cy="4351562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719"/>
            <a:ext cx="5181600" cy="4351562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06400" y="425472"/>
            <a:ext cx="11277600" cy="612806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5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A79B1-94F2-44A5-8271-BE7A17D668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871382" y="363024"/>
            <a:ext cx="893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  <p:sp>
        <p:nvSpPr>
          <p:cNvPr id="9" name="流程图: 决策 8"/>
          <p:cNvSpPr/>
          <p:nvPr userDrawn="1"/>
        </p:nvSpPr>
        <p:spPr>
          <a:xfrm>
            <a:off x="0" y="-477837"/>
            <a:ext cx="2205038" cy="2090738"/>
          </a:xfrm>
          <a:prstGeom prst="flowChartDecision">
            <a:avLst/>
          </a:prstGeom>
          <a:solidFill>
            <a:srgbClr val="D00000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Line 4"/>
          <p:cNvSpPr/>
          <p:nvPr userDrawn="1"/>
        </p:nvSpPr>
        <p:spPr>
          <a:xfrm flipV="1">
            <a:off x="2160588" y="1104900"/>
            <a:ext cx="9523412" cy="12700"/>
          </a:xfrm>
          <a:prstGeom prst="line">
            <a:avLst/>
          </a:prstGeom>
          <a:ln w="1270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7" name="图片 6" descr="广州南方学院校徽（白色圆徽）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458470" y="-24130"/>
            <a:ext cx="1316355" cy="131635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64000">
              <a:srgbClr val="002060"/>
            </a:gs>
            <a:gs pos="100000">
              <a:schemeClr val="accent1">
                <a:tint val="44500"/>
                <a:satMod val="160000"/>
                <a:alpha val="0"/>
              </a:schemeClr>
            </a:gs>
            <a:gs pos="100000">
              <a:schemeClr val="accent1">
                <a:tint val="44500"/>
                <a:satMod val="160000"/>
                <a:alpha val="0"/>
              </a:schemeClr>
            </a:gs>
            <a:gs pos="97000">
              <a:schemeClr val="accent1">
                <a:tint val="23500"/>
                <a:satMod val="160000"/>
                <a:alpha val="3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06400" y="425472"/>
            <a:ext cx="8940800" cy="1219263"/>
          </a:xfrm>
          <a:prstGeom prst="rect">
            <a:avLst/>
          </a:prstGeom>
          <a:noFill/>
          <a:ln w="9525">
            <a:noFill/>
          </a:ln>
          <a:effectLst>
            <a:outerShdw dist="17961" dir="2699999" algn="ctr" rotWithShape="0">
              <a:schemeClr val="bg2"/>
            </a:outerShdw>
          </a:effectLst>
        </p:spPr>
        <p:txBody>
          <a:bodyPr wrap="square" lIns="91440" tIns="45720" rIns="91440" bIns="45720" anchor="ctr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463551" y="1905098"/>
            <a:ext cx="11220449" cy="4648439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7524" name="Line 4"/>
          <p:cNvSpPr>
            <a:spLocks noChangeShapeType="1"/>
          </p:cNvSpPr>
          <p:nvPr/>
        </p:nvSpPr>
        <p:spPr bwMode="auto">
          <a:xfrm>
            <a:off x="508000" y="1600282"/>
            <a:ext cx="11176000" cy="0"/>
          </a:xfrm>
          <a:prstGeom prst="line">
            <a:avLst/>
          </a:prstGeom>
          <a:noFill/>
          <a:ln w="12700">
            <a:solidFill>
              <a:srgbClr val="FF9900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tx2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tx2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tx2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7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7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7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7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ts val="600"/>
        </a:spcBef>
        <a:spcAft>
          <a:spcPts val="600"/>
        </a:spcAft>
        <a:buClr>
          <a:srgbClr val="FF9900"/>
        </a:buClr>
        <a:buSzPct val="110000"/>
        <a:buChar char="•"/>
        <a:defRPr sz="3100">
          <a:solidFill>
            <a:schemeClr val="tx2"/>
          </a:solidFill>
          <a:latin typeface="+mn-lt"/>
          <a:ea typeface="+mn-ea"/>
          <a:cs typeface="+mn-cs"/>
        </a:defRPr>
      </a:lvl1pPr>
      <a:lvl2pPr marL="743585" indent="-286385" algn="l" rtl="0" eaLnBrk="0" fontAlgn="base" hangingPunct="0">
        <a:lnSpc>
          <a:spcPct val="110000"/>
        </a:lnSpc>
        <a:spcBef>
          <a:spcPts val="600"/>
        </a:spcBef>
        <a:spcAft>
          <a:spcPts val="600"/>
        </a:spcAft>
        <a:buClr>
          <a:srgbClr val="FF9900"/>
        </a:buClr>
        <a:buSzPct val="110000"/>
        <a:buFont typeface="Arial" panose="020B0604020202020204" pitchFamily="34" charset="0"/>
        <a:buChar char="–"/>
        <a:defRPr sz="2600">
          <a:solidFill>
            <a:schemeClr val="tx2"/>
          </a:solidFill>
          <a:latin typeface="+mn-lt"/>
        </a:defRPr>
      </a:lvl2pPr>
      <a:lvl3pPr marL="1143000" indent="-228600" algn="l" rtl="0" eaLnBrk="0" fontAlgn="base" hangingPunct="0">
        <a:lnSpc>
          <a:spcPct val="110000"/>
        </a:lnSpc>
        <a:spcBef>
          <a:spcPts val="600"/>
        </a:spcBef>
        <a:spcAft>
          <a:spcPts val="600"/>
        </a:spcAft>
        <a:buClr>
          <a:srgbClr val="FF9900"/>
        </a:buClr>
        <a:buSzPct val="110000"/>
        <a:buChar char="•"/>
        <a:defRPr sz="2100">
          <a:solidFill>
            <a:schemeClr val="tx2"/>
          </a:solidFill>
          <a:latin typeface="+mn-lt"/>
        </a:defRPr>
      </a:lvl3pPr>
      <a:lvl4pPr marL="1600200" indent="-228600" algn="l" rtl="0" eaLnBrk="0" fontAlgn="base" hangingPunct="0">
        <a:lnSpc>
          <a:spcPct val="110000"/>
        </a:lnSpc>
        <a:spcBef>
          <a:spcPts val="600"/>
        </a:spcBef>
        <a:spcAft>
          <a:spcPts val="600"/>
        </a:spcAft>
        <a:buClr>
          <a:srgbClr val="FF9900"/>
        </a:buClr>
        <a:buSzPct val="110000"/>
        <a:buFont typeface="Arial" panose="020B0604020202020204" pitchFamily="34" charset="0"/>
        <a:buChar char="–"/>
        <a:defRPr sz="2000">
          <a:solidFill>
            <a:schemeClr val="tx2"/>
          </a:solidFill>
          <a:latin typeface="+mn-lt"/>
        </a:defRPr>
      </a:lvl4pPr>
      <a:lvl5pPr marL="2057400" indent="-228600" algn="l" rtl="0" eaLnBrk="0" fontAlgn="base" hangingPunct="0">
        <a:lnSpc>
          <a:spcPct val="110000"/>
        </a:lnSpc>
        <a:spcBef>
          <a:spcPts val="600"/>
        </a:spcBef>
        <a:spcAft>
          <a:spcPts val="600"/>
        </a:spcAft>
        <a:buClr>
          <a:srgbClr val="FF9900"/>
        </a:buClr>
        <a:buSzPct val="110000"/>
        <a:buFont typeface="Arial" panose="020B0604020202020204" pitchFamily="34" charset="0"/>
        <a:buChar char="›"/>
        <a:defRPr sz="2000">
          <a:solidFill>
            <a:schemeClr val="tx2"/>
          </a:solidFill>
          <a:latin typeface="+mn-lt"/>
        </a:defRPr>
      </a:lvl5pPr>
      <a:lvl6pPr marL="2515235" indent="-228600" algn="l" rtl="0" fontAlgn="base">
        <a:lnSpc>
          <a:spcPct val="110000"/>
        </a:lnSpc>
        <a:spcBef>
          <a:spcPts val="600"/>
        </a:spcBef>
        <a:spcAft>
          <a:spcPts val="600"/>
        </a:spcAft>
        <a:buClr>
          <a:srgbClr val="FF9900"/>
        </a:buClr>
        <a:buSzPct val="110000"/>
        <a:buFont typeface="Arial" panose="020B0604020202020204" pitchFamily="34" charset="0"/>
        <a:buChar char="›"/>
        <a:defRPr sz="2000">
          <a:solidFill>
            <a:schemeClr val="tx2"/>
          </a:solidFill>
          <a:latin typeface="+mn-lt"/>
        </a:defRPr>
      </a:lvl6pPr>
      <a:lvl7pPr marL="2972435" indent="-228600" algn="l" rtl="0" fontAlgn="base">
        <a:lnSpc>
          <a:spcPct val="110000"/>
        </a:lnSpc>
        <a:spcBef>
          <a:spcPts val="600"/>
        </a:spcBef>
        <a:spcAft>
          <a:spcPts val="600"/>
        </a:spcAft>
        <a:buClr>
          <a:srgbClr val="FF9900"/>
        </a:buClr>
        <a:buSzPct val="110000"/>
        <a:buFont typeface="Arial" panose="020B0604020202020204" pitchFamily="34" charset="0"/>
        <a:buChar char="›"/>
        <a:defRPr sz="2000">
          <a:solidFill>
            <a:schemeClr val="tx2"/>
          </a:solidFill>
          <a:latin typeface="+mn-lt"/>
        </a:defRPr>
      </a:lvl7pPr>
      <a:lvl8pPr marL="3429635" indent="-228600" algn="l" rtl="0" fontAlgn="base">
        <a:lnSpc>
          <a:spcPct val="110000"/>
        </a:lnSpc>
        <a:spcBef>
          <a:spcPts val="600"/>
        </a:spcBef>
        <a:spcAft>
          <a:spcPts val="600"/>
        </a:spcAft>
        <a:buClr>
          <a:srgbClr val="FF9900"/>
        </a:buClr>
        <a:buSzPct val="110000"/>
        <a:buFont typeface="Arial" panose="020B0604020202020204" pitchFamily="34" charset="0"/>
        <a:buChar char="›"/>
        <a:defRPr sz="2000">
          <a:solidFill>
            <a:schemeClr val="tx2"/>
          </a:solidFill>
          <a:latin typeface="+mn-lt"/>
        </a:defRPr>
      </a:lvl8pPr>
      <a:lvl9pPr marL="3886835" indent="-228600" algn="l" rtl="0" fontAlgn="base">
        <a:lnSpc>
          <a:spcPct val="110000"/>
        </a:lnSpc>
        <a:spcBef>
          <a:spcPts val="600"/>
        </a:spcBef>
        <a:spcAft>
          <a:spcPts val="600"/>
        </a:spcAft>
        <a:buClr>
          <a:srgbClr val="FF9900"/>
        </a:buClr>
        <a:buSzPct val="110000"/>
        <a:buFont typeface="Arial" panose="020B0604020202020204" pitchFamily="34" charset="0"/>
        <a:buChar char="›"/>
        <a:defRPr sz="2000">
          <a:solidFill>
            <a:schemeClr val="tx2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8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ctrTitle"/>
          </p:nvPr>
        </p:nvSpPr>
        <p:spPr>
          <a:xfrm>
            <a:off x="2582545" y="2606675"/>
            <a:ext cx="7186295" cy="815975"/>
          </a:xfrm>
          <a:prstGeom prst="rect">
            <a:avLst/>
          </a:prstGeom>
          <a:solidFill>
            <a:srgbClr val="FFFFFF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anchor="t">
            <a:normAutofit fontScale="90000"/>
          </a:bodyPr>
          <a:lstStyle>
            <a:lvl1pPr lvl="0">
              <a:buClrTx/>
              <a:buSzTx/>
              <a:buFontTx/>
              <a:defRPr/>
            </a:lvl1pPr>
          </a:lstStyle>
          <a:p>
            <a:pPr marL="0" lvl="0" indent="0" algn="ctr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40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</a:rPr>
              <a:t>PetCare O2O</a:t>
            </a:r>
            <a:r>
              <a:rPr lang="zh-CN" altLang="en-US" sz="40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</a:rPr>
              <a:t>小组</a:t>
            </a:r>
            <a:r>
              <a:rPr lang="en-US" altLang="zh-CN" sz="40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</a:rPr>
              <a:t> </a:t>
            </a:r>
            <a:r>
              <a:rPr lang="zh-CN" altLang="en-US" sz="40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</a:rPr>
              <a:t>期末验收报告</a:t>
            </a:r>
            <a:br>
              <a:rPr lang="zh-CN" altLang="en-US" sz="40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</a:rPr>
            </a:br>
            <a:r>
              <a:rPr lang="zh-CN" altLang="en-US" sz="40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</a:rPr>
              <a:t>小组成员：</a:t>
            </a:r>
            <a:r>
              <a:rPr lang="en-US" altLang="zh-CN" sz="40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</a:rPr>
              <a:t>曾志洪（2320160033）</a:t>
            </a:r>
            <a:endParaRPr lang="en-US" altLang="zh-CN" sz="4000" b="1" dirty="0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251905"/>
          <p:cNvSpPr>
            <a:spLocks noGrp="1" noChangeArrowheads="1"/>
          </p:cNvSpPr>
          <p:nvPr>
            <p:ph type="title" idx="4294967295"/>
          </p:nvPr>
        </p:nvSpPr>
        <p:spPr>
          <a:xfrm>
            <a:off x="2346411" y="355601"/>
            <a:ext cx="10871200" cy="990600"/>
          </a:xfrm>
        </p:spPr>
        <p:txBody>
          <a:bodyPr/>
          <a:lstStyle/>
          <a:p>
            <a:r>
              <a:rPr lang="zh-CN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主要内容</a:t>
            </a:r>
            <a:endParaRPr lang="zh-CN" alt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323" name="矩形 251909"/>
          <p:cNvSpPr>
            <a:spLocks noChangeArrowheads="1"/>
          </p:cNvSpPr>
          <p:nvPr/>
        </p:nvSpPr>
        <p:spPr bwMode="auto">
          <a:xfrm>
            <a:off x="1816735" y="1080135"/>
            <a:ext cx="8776970" cy="319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 marL="342900" indent="-3429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9900"/>
              </a:buClr>
              <a:buSzPct val="110000"/>
              <a:buChar char="•"/>
              <a:defRPr sz="31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9900"/>
              </a:buClr>
              <a:buSzPct val="110000"/>
              <a:buFont typeface="Arial" panose="020B0604020202020204" pitchFamily="34" charset="0"/>
              <a:buChar char="–"/>
              <a:defRPr sz="26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9900"/>
              </a:buClr>
              <a:buSzPct val="110000"/>
              <a:buChar char="•"/>
              <a:defRPr sz="21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9900"/>
              </a:buClr>
              <a:buSzPct val="110000"/>
              <a:buFont typeface="Arial" panose="020B0604020202020204" pitchFamily="34" charset="0"/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9900"/>
              </a:buClr>
              <a:buSzPct val="110000"/>
              <a:buFont typeface="Arial" panose="020B0604020202020204" pitchFamily="34" charset="0"/>
              <a:buChar char="›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9900"/>
              </a:buClr>
              <a:buSzPct val="110000"/>
              <a:buFont typeface="Arial" panose="020B0604020202020204" pitchFamily="34" charset="0"/>
              <a:buChar char="›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9900"/>
              </a:buClr>
              <a:buSzPct val="110000"/>
              <a:buFont typeface="Arial" panose="020B0604020202020204" pitchFamily="34" charset="0"/>
              <a:buChar char="›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9900"/>
              </a:buClr>
              <a:buSzPct val="110000"/>
              <a:buFont typeface="Arial" panose="020B0604020202020204" pitchFamily="34" charset="0"/>
              <a:buChar char="›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9900"/>
              </a:buClr>
              <a:buSzPct val="110000"/>
              <a:buFont typeface="Arial" panose="020B0604020202020204" pitchFamily="34" charset="0"/>
              <a:buChar char="›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marL="1371600" lvl="2" indent="-4572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E7173E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sz="32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项目概述</a:t>
            </a:r>
            <a:endParaRPr lang="zh-CN" sz="32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marL="1371600" lvl="2" indent="-4572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E7173E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sz="32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小组分工及贡献</a:t>
            </a:r>
            <a:endParaRPr lang="zh-CN" sz="32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marL="1371600" lvl="2" indent="-4572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E7173E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sz="32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项目仓库目录结构</a:t>
            </a:r>
            <a:endParaRPr lang="zh-CN" sz="32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marL="1371600" lvl="2" indent="-4572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E7173E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sz="32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项目配置项清单</a:t>
            </a:r>
            <a:endParaRPr lang="zh-CN" sz="32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marL="1371600" lvl="2" indent="-4572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E7173E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sz="32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成员分支开发、日志提交贡献情况</a:t>
            </a:r>
            <a:endParaRPr lang="zh-CN" sz="32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marL="1371600" lvl="2" indent="-4572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E7173E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sz="32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项目基线情况</a:t>
            </a:r>
            <a:endParaRPr lang="zh-CN" sz="32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marL="1371600" lvl="2" indent="-4572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E7173E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sz="32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项目持续集成演示</a:t>
            </a:r>
            <a:endParaRPr lang="zh-CN" sz="32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marL="1371600" lvl="2" indent="-4572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E7173E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sz="32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创新点、不足</a:t>
            </a:r>
            <a:endParaRPr lang="zh-CN" sz="32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marL="1371600" lvl="2" indent="-4572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E7173E"/>
              </a:buClr>
              <a:buSzPct val="100000"/>
              <a:buFont typeface="Wingdings" panose="05000000000000000000" pitchFamily="2" charset="2"/>
              <a:buChar char="Ø"/>
            </a:pPr>
            <a:endParaRPr lang="zh-CN" sz="32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标题 251905"/>
          <p:cNvSpPr>
            <a:spLocks noGrp="1" noChangeArrowheads="1"/>
          </p:cNvSpPr>
          <p:nvPr>
            <p:ph type="title" idx="4294967295"/>
          </p:nvPr>
        </p:nvSpPr>
        <p:spPr>
          <a:xfrm>
            <a:off x="2346411" y="355601"/>
            <a:ext cx="10871200" cy="990600"/>
          </a:xfrm>
        </p:spPr>
        <p:txBody>
          <a:bodyPr/>
          <a:lstStyle/>
          <a:p>
            <a:r>
              <a:rPr lang="zh-CN" sz="3600" dirty="0">
                <a:latin typeface="华文楷体" panose="02010600040101010101" charset="-122"/>
                <a:ea typeface="华文楷体" panose="02010600040101010101" charset="-122"/>
                <a:sym typeface="+mn-ea"/>
              </a:rPr>
              <a:t>项目概述</a:t>
            </a:r>
            <a:endParaRPr lang="zh-CN" alt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45" name="标题 3"/>
          <p:cNvSpPr>
            <a:spLocks noGrp="1"/>
          </p:cNvSpPr>
          <p:nvPr/>
        </p:nvSpPr>
        <p:spPr>
          <a:xfrm>
            <a:off x="1516380" y="1162685"/>
            <a:ext cx="9964420" cy="1518285"/>
          </a:xfrm>
          <a:solidFill>
            <a:srgbClr val="FFFFFF"/>
          </a:solidFill>
          <a:ln>
            <a:noFill/>
            <a:miter/>
          </a:ln>
        </p:spPr>
        <p:txBody>
          <a:bodyPr anchor="t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latinLnBrk="0" hangingPunct="1">
              <a:lnSpc>
                <a:spcPct val="150000"/>
              </a:lnSpc>
              <a:buFont typeface="Wingdings" panose="05000000000000000000" charset="0"/>
              <a:buNone/>
            </a:pPr>
            <a:r>
              <a:rPr sz="2600" b="1">
                <a:solidFill>
                  <a:srgbClr val="0000FF"/>
                </a:solidFill>
                <a:latin typeface="仿宋" panose="02010609060101010101" charset="-122"/>
              </a:rPr>
              <a:t>项目简介：</a:t>
            </a:r>
            <a:endParaRPr lang="zh-CN" altLang="en-US" sz="2800" b="1" kern="1200" dirty="0">
              <a:solidFill>
                <a:srgbClr val="0000FF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宋体" panose="02010600030101010101" pitchFamily="2" charset="-122"/>
            </a:endParaRPr>
          </a:p>
          <a:p>
            <a:r>
              <a:rPr sz="2200" b="0">
                <a:solidFill>
                  <a:srgbClr val="000000"/>
                </a:solidFill>
                <a:latin typeface="仿宋" panose="02010609060101010101" charset="-122"/>
              </a:rPr>
              <a:t>PetCare O2O 是面向单体宠物门店的 O2O 平台，覆盖服务预约、商品零售、社区互动、营销活动四大业务域。</a:t>
            </a:r>
            <a:endParaRPr sz="2200" b="0">
              <a:solidFill>
                <a:srgbClr val="000000"/>
              </a:solidFill>
              <a:latin typeface="仿宋" panose="02010609060101010101" charset="-122"/>
            </a:endParaRPr>
          </a:p>
          <a:p>
            <a:r>
              <a:rPr sz="2200" b="0">
                <a:solidFill>
                  <a:srgbClr val="000000"/>
                </a:solidFill>
                <a:latin typeface="仿宋" panose="02010609060101010101" charset="-122"/>
              </a:rPr>
              <a:t>技术架构：后端 Spring Boot 3.3 + MyBatis-Plus + MySQL 8；管理端 Vue3 + Element Plus；用户端 UniApp H5。</a:t>
            </a:r>
            <a:endParaRPr sz="2200" b="0">
              <a:solidFill>
                <a:srgbClr val="000000"/>
              </a:solidFill>
              <a:latin typeface="仿宋" panose="02010609060101010101" charset="-122"/>
            </a:endParaRPr>
          </a:p>
          <a:p>
            <a:r>
              <a:rPr sz="2200" b="0">
                <a:solidFill>
                  <a:srgbClr val="000000"/>
                </a:solidFill>
                <a:latin typeface="仿宋" panose="02010609060101010101" charset="-122"/>
              </a:rPr>
              <a:t>交付成果：产品基线 v1.0.0-rc1 已建立，843 个测试全部通过，三端可访问。</a:t>
            </a:r>
            <a:endParaRPr sz="2200" b="0">
              <a:solidFill>
                <a:srgbClr val="000000"/>
              </a:solidFill>
              <a:latin typeface="仿宋" panose="02010609060101010101" charset="-122"/>
            </a:endParaRPr>
          </a:p>
          <a:p>
            <a:r>
              <a:rPr sz="2400" b="1">
                <a:solidFill>
                  <a:srgbClr val="FF0000"/>
                </a:solidFill>
                <a:latin typeface="仿宋" panose="02010609060101010101" charset="-122"/>
              </a:rPr>
              <a:t>功能界面截图：</a:t>
            </a:r>
            <a:endParaRPr sz="2400" b="1">
              <a:solidFill>
                <a:srgbClr val="FF0000"/>
              </a:solidFill>
              <a:latin typeface="仿宋" panose="02010609060101010101" charset="-122"/>
            </a:endParaRPr>
          </a:p>
        </p:txBody>
      </p:sp>
      <p:pic>
        <p:nvPicPr>
          <p:cNvPr id="56323" name="Picture 56322" descr="04_h5_hom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3723" y="3840480"/>
            <a:ext cx="1267592" cy="2743200"/>
          </a:xfrm>
          <a:prstGeom prst="rect">
            <a:avLst/>
          </a:prstGeom>
        </p:spPr>
      </p:pic>
      <p:pic>
        <p:nvPicPr>
          <p:cNvPr id="56324" name="Picture 56323" descr="03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3931920"/>
            <a:ext cx="3950208" cy="2468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5" grpId="1" animBg="1"/>
      <p:bldP spid="31745" grpId="3" animBg="1"/>
      <p:bldP spid="31745" grpId="4" bldLvl="0" animBg="1"/>
      <p:bldP spid="31745" grpId="5" animBg="1"/>
      <p:bldP spid="31745" grpId="7" animBg="1"/>
      <p:bldP spid="31745" grpId="9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标题 251905"/>
          <p:cNvSpPr>
            <a:spLocks noGrp="1" noChangeArrowheads="1"/>
          </p:cNvSpPr>
          <p:nvPr>
            <p:ph type="title" idx="4294967295"/>
          </p:nvPr>
        </p:nvSpPr>
        <p:spPr>
          <a:xfrm>
            <a:off x="2346411" y="355601"/>
            <a:ext cx="10871200" cy="990600"/>
          </a:xfrm>
        </p:spPr>
        <p:txBody>
          <a:bodyPr/>
          <a:lstStyle/>
          <a:p>
            <a:r>
              <a:rPr lang="zh-CN" sz="3600" dirty="0">
                <a:latin typeface="华文楷体" panose="02010600040101010101" charset="-122"/>
                <a:ea typeface="华文楷体" panose="02010600040101010101" charset="-122"/>
                <a:sym typeface="+mn-ea"/>
              </a:rPr>
              <a:t>小组分工及贡献</a:t>
            </a:r>
            <a:endParaRPr lang="zh-CN" alt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323" name="TextBox 56322"/>
          <p:cNvSpPr txBox="1"/>
          <p:nvPr/>
        </p:nvSpPr>
        <p:spPr>
          <a:xfrm>
            <a:off x="586740" y="1998980"/>
            <a:ext cx="11086465" cy="37331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600" b="1">
                <a:solidFill>
                  <a:srgbClr val="0000FF"/>
                </a:solidFill>
                <a:latin typeface="仿宋" panose="02010609060101010101" charset="-122"/>
              </a:rPr>
              <a:t>本项目为单人课程作业，全部工作由曾志洪（学号 2320160033）独立完成。</a:t>
            </a:r>
            <a:endParaRPr sz="2600" b="1">
              <a:solidFill>
                <a:srgbClr val="0000FF"/>
              </a:solidFill>
              <a:latin typeface="仿宋" panose="02010609060101010101" charset="-122"/>
            </a:endParaRPr>
          </a:p>
          <a:p>
            <a:endParaRPr sz="2600"/>
          </a:p>
          <a:p>
            <a:r>
              <a:rPr sz="2400" b="1">
                <a:solidFill>
                  <a:srgbClr val="C00000"/>
                </a:solidFill>
                <a:latin typeface="仿宋" panose="02010609060101010101" charset="-122"/>
              </a:rPr>
              <a:t>主要承担角色与工作：</a:t>
            </a:r>
            <a:endParaRPr sz="2400" b="1">
              <a:solidFill>
                <a:srgbClr val="C00000"/>
              </a:solidFill>
              <a:latin typeface="仿宋" panose="02010609060101010101" charset="-122"/>
            </a:endParaRPr>
          </a:p>
          <a:p>
            <a:r>
              <a:rPr sz="2200" b="0">
                <a:solidFill>
                  <a:srgbClr val="000000"/>
                </a:solidFill>
                <a:latin typeface="仿宋" panose="02010609060101010101" charset="-122"/>
              </a:rPr>
              <a:t>① 项目经理 / 配置管理工程师：编制配置管理计划，识别 76 个配置项，建立 8 个基线 tag。</a:t>
            </a:r>
            <a:endParaRPr sz="2200" b="0">
              <a:solidFill>
                <a:srgbClr val="000000"/>
              </a:solidFill>
              <a:latin typeface="仿宋" panose="02010609060101010101" charset="-122"/>
            </a:endParaRPr>
          </a:p>
          <a:p>
            <a:r>
              <a:rPr sz="2200" b="0">
                <a:solidFill>
                  <a:srgbClr val="000000"/>
                </a:solidFill>
                <a:latin typeface="仿宋" panose="02010609060101010101" charset="-122"/>
              </a:rPr>
              <a:t>② 开发工程师：完成服务预约、商品订单、社区互动、营销活动四大模块三端开发。</a:t>
            </a:r>
            <a:endParaRPr sz="2200" b="0">
              <a:solidFill>
                <a:srgbClr val="000000"/>
              </a:solidFill>
              <a:latin typeface="仿宋" panose="02010609060101010101" charset="-122"/>
            </a:endParaRPr>
          </a:p>
          <a:p>
            <a:r>
              <a:rPr sz="2200" b="0">
                <a:solidFill>
                  <a:srgbClr val="000000"/>
                </a:solidFill>
                <a:latin typeface="仿宋" panose="02010609060101010101" charset="-122"/>
              </a:rPr>
              <a:t>③ 测试工程师：编写 843 个单元 / 集成 / 契约测试，JaCoCo 类覆盖率 93%。</a:t>
            </a:r>
            <a:endParaRPr sz="2200" b="0">
              <a:solidFill>
                <a:srgbClr val="000000"/>
              </a:solidFill>
              <a:latin typeface="仿宋" panose="02010609060101010101" charset="-122"/>
            </a:endParaRPr>
          </a:p>
          <a:p>
            <a:r>
              <a:rPr sz="2200" b="0">
                <a:solidFill>
                  <a:srgbClr val="000000"/>
                </a:solidFill>
                <a:latin typeface="仿宋" panose="02010609060101010101" charset="-122"/>
              </a:rPr>
              <a:t>④ DevOps 工程师：编写 Jenkins + GitHub Actions 流水线脚本，Docker 化一键部署。</a:t>
            </a:r>
            <a:endParaRPr sz="2200" b="0">
              <a:solidFill>
                <a:srgbClr val="000000"/>
              </a:solidFill>
              <a:latin typeface="仿宋" panose="02010609060101010101" charset="-122"/>
            </a:endParaRPr>
          </a:p>
          <a:p>
            <a:endParaRPr sz="2200"/>
          </a:p>
          <a:p>
            <a:r>
              <a:rPr sz="2400" b="1">
                <a:solidFill>
                  <a:srgbClr val="C00000"/>
                </a:solidFill>
                <a:latin typeface="仿宋" panose="02010609060101010101" charset="-122"/>
              </a:rPr>
              <a:t>文档贡献度：1.0（独立完成全部配置管理与持续集成工作）。</a:t>
            </a:r>
            <a:endParaRPr sz="2400" b="1">
              <a:solidFill>
                <a:srgbClr val="C00000"/>
              </a:solidFill>
              <a:latin typeface="仿宋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标题 251905"/>
          <p:cNvSpPr>
            <a:spLocks noGrp="1" noChangeArrowheads="1"/>
          </p:cNvSpPr>
          <p:nvPr>
            <p:ph type="title" idx="4294967295"/>
          </p:nvPr>
        </p:nvSpPr>
        <p:spPr>
          <a:xfrm>
            <a:off x="2346411" y="355601"/>
            <a:ext cx="10871200" cy="990600"/>
          </a:xfrm>
        </p:spPr>
        <p:txBody>
          <a:bodyPr/>
          <a:lstStyle/>
          <a:p>
            <a:r>
              <a:rPr lang="zh-CN" sz="3600" dirty="0">
                <a:latin typeface="华文楷体" panose="02010600040101010101" charset="-122"/>
                <a:ea typeface="华文楷体" panose="02010600040101010101" charset="-122"/>
                <a:sym typeface="+mn-ea"/>
              </a:rPr>
              <a:t>项目仓库目录结构</a:t>
            </a:r>
            <a:endParaRPr lang="zh-CN" alt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45" name="标题 3"/>
          <p:cNvSpPr>
            <a:spLocks noGrp="1"/>
          </p:cNvSpPr>
          <p:nvPr/>
        </p:nvSpPr>
        <p:spPr>
          <a:xfrm>
            <a:off x="1516380" y="1162685"/>
            <a:ext cx="9964420" cy="1518285"/>
          </a:xfrm>
          <a:solidFill>
            <a:srgbClr val="FFFFFF"/>
          </a:solidFill>
          <a:ln>
            <a:noFill/>
            <a:miter/>
          </a:ln>
        </p:spPr>
        <p:txBody>
          <a:bodyPr anchor="t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latinLnBrk="0" hangingPunct="1">
              <a:lnSpc>
                <a:spcPct val="150000"/>
              </a:lnSpc>
              <a:buFont typeface="Wingdings" panose="05000000000000000000" charset="0"/>
              <a:buNone/>
            </a:pPr>
            <a:r>
              <a:rPr sz="2400" b="1">
                <a:solidFill>
                  <a:srgbClr val="0000FF"/>
                </a:solidFill>
                <a:latin typeface="仿宋" panose="02010609060101010101" charset="-122"/>
              </a:rPr>
              <a:t>版本库工具：Git + GitHub（主分支保护，PR 合并）</a:t>
            </a:r>
            <a:endParaRPr lang="zh-CN" altLang="en-US" sz="2800" b="1" kern="1200" dirty="0">
              <a:solidFill>
                <a:srgbClr val="0000FF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宋体" panose="02010600030101010101" pitchFamily="2" charset="-122"/>
            </a:endParaRPr>
          </a:p>
          <a:p>
            <a:r>
              <a:rPr sz="2200" b="0">
                <a:solidFill>
                  <a:srgbClr val="000000"/>
                </a:solidFill>
                <a:latin typeface="仿宋" panose="02010609060101010101" charset="-122"/>
              </a:rPr>
              <a:t>仓库地址：https://github.com/zengmo20224/petcare-o2o</a:t>
            </a:r>
            <a:endParaRPr sz="2200" b="0">
              <a:solidFill>
                <a:srgbClr val="000000"/>
              </a:solidFill>
              <a:latin typeface="仿宋" panose="02010609060101010101" charset="-122"/>
            </a:endParaRPr>
          </a:p>
        </p:txBody>
      </p:sp>
      <p:sp>
        <p:nvSpPr>
          <p:cNvPr id="56323" name="TextBox 56322"/>
          <p:cNvSpPr txBox="1"/>
          <p:nvPr/>
        </p:nvSpPr>
        <p:spPr>
          <a:xfrm>
            <a:off x="1554480" y="2377440"/>
            <a:ext cx="5943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nsolas" panose="020B0609020204030204"/>
              </a:rPr>
              <a:t>petcare-o2o/</a:t>
            </a:r>
            <a:endParaRPr sz="1600">
              <a:solidFill>
                <a:srgbClr val="000000"/>
              </a:solidFill>
              <a:latin typeface="Consolas" panose="020B0609020204030204"/>
            </a:endParaRPr>
          </a:p>
          <a:p>
            <a:r>
              <a:rPr sz="1600">
                <a:solidFill>
                  <a:srgbClr val="000000"/>
                </a:solidFill>
                <a:latin typeface="Consolas" panose="020B0609020204030204"/>
              </a:rPr>
              <a:t>├── src/                  后端源码(Java+测试)</a:t>
            </a:r>
            <a:endParaRPr sz="1600">
              <a:solidFill>
                <a:srgbClr val="000000"/>
              </a:solidFill>
              <a:latin typeface="Consolas" panose="020B0609020204030204"/>
            </a:endParaRPr>
          </a:p>
          <a:p>
            <a:r>
              <a:rPr sz="1600">
                <a:solidFill>
                  <a:srgbClr val="000000"/>
                </a:solidFill>
                <a:latin typeface="Consolas" panose="020B0609020204030204"/>
              </a:rPr>
              <a:t>├── frontend/admin-web/   管理端(Vue3)</a:t>
            </a:r>
            <a:endParaRPr sz="1600">
              <a:solidFill>
                <a:srgbClr val="000000"/>
              </a:solidFill>
              <a:latin typeface="Consolas" panose="020B0609020204030204"/>
            </a:endParaRPr>
          </a:p>
          <a:p>
            <a:r>
              <a:rPr sz="1600">
                <a:solidFill>
                  <a:srgbClr val="000000"/>
                </a:solidFill>
                <a:latin typeface="Consolas" panose="020B0609020204030204"/>
              </a:rPr>
              <a:t>├── frontend/miniapp/     用户端H5(UniApp)</a:t>
            </a:r>
            <a:endParaRPr sz="1600">
              <a:solidFill>
                <a:srgbClr val="000000"/>
              </a:solidFill>
              <a:latin typeface="Consolas" panose="020B0609020204030204"/>
            </a:endParaRPr>
          </a:p>
          <a:p>
            <a:r>
              <a:rPr sz="1600">
                <a:solidFill>
                  <a:srgbClr val="000000"/>
                </a:solidFill>
                <a:latin typeface="Consolas" panose="020B0609020204030204"/>
              </a:rPr>
              <a:t>├── docs/                 配置管理文档</a:t>
            </a:r>
            <a:endParaRPr sz="1600">
              <a:solidFill>
                <a:srgbClr val="000000"/>
              </a:solidFill>
              <a:latin typeface="Consolas" panose="020B0609020204030204"/>
            </a:endParaRPr>
          </a:p>
          <a:p>
            <a:r>
              <a:rPr sz="1600">
                <a:solidFill>
                  <a:srgbClr val="000000"/>
                </a:solidFill>
                <a:latin typeface="Consolas" panose="020B0609020204030204"/>
              </a:rPr>
              <a:t>├── nginx/                反向代理配置</a:t>
            </a:r>
            <a:endParaRPr sz="1600">
              <a:solidFill>
                <a:srgbClr val="000000"/>
              </a:solidFill>
              <a:latin typeface="Consolas" panose="020B0609020204030204"/>
            </a:endParaRPr>
          </a:p>
          <a:p>
            <a:r>
              <a:rPr sz="1600">
                <a:solidFill>
                  <a:srgbClr val="000000"/>
                </a:solidFill>
                <a:latin typeface="Consolas" panose="020B0609020204030204"/>
              </a:rPr>
              <a:t>├── .github/workflows/    GitHub Actions</a:t>
            </a:r>
            <a:endParaRPr sz="1600">
              <a:solidFill>
                <a:srgbClr val="000000"/>
              </a:solidFill>
              <a:latin typeface="Consolas" panose="020B0609020204030204"/>
            </a:endParaRPr>
          </a:p>
          <a:p>
            <a:r>
              <a:rPr sz="1600">
                <a:solidFill>
                  <a:srgbClr val="000000"/>
                </a:solidFill>
                <a:latin typeface="Consolas" panose="020B0609020204030204"/>
              </a:rPr>
              <a:t>├── Dockerfile            后端镜像</a:t>
            </a:r>
            <a:endParaRPr sz="1600">
              <a:solidFill>
                <a:srgbClr val="000000"/>
              </a:solidFill>
              <a:latin typeface="Consolas" panose="020B0609020204030204"/>
            </a:endParaRPr>
          </a:p>
          <a:p>
            <a:r>
              <a:rPr sz="1600">
                <a:solidFill>
                  <a:srgbClr val="000000"/>
                </a:solidFill>
                <a:latin typeface="Consolas" panose="020B0609020204030204"/>
              </a:rPr>
              <a:t>├── docker-compose.yml    四服务编排</a:t>
            </a:r>
            <a:endParaRPr sz="1600">
              <a:solidFill>
                <a:srgbClr val="000000"/>
              </a:solidFill>
              <a:latin typeface="Consolas" panose="020B0609020204030204"/>
            </a:endParaRPr>
          </a:p>
          <a:p>
            <a:r>
              <a:rPr sz="1600">
                <a:solidFill>
                  <a:srgbClr val="000000"/>
                </a:solidFill>
                <a:latin typeface="Consolas" panose="020B0609020204030204"/>
              </a:rPr>
              <a:t>├── Jenkinsfile           CI流水线</a:t>
            </a:r>
            <a:endParaRPr sz="1600">
              <a:solidFill>
                <a:srgbClr val="000000"/>
              </a:solidFill>
              <a:latin typeface="Consolas" panose="020B0609020204030204"/>
            </a:endParaRPr>
          </a:p>
          <a:p>
            <a:r>
              <a:rPr sz="1600">
                <a:solidFill>
                  <a:srgbClr val="000000"/>
                </a:solidFill>
                <a:latin typeface="Consolas" panose="020B0609020204030204"/>
              </a:rPr>
              <a:t>├── schema.sql            数据库脚本</a:t>
            </a:r>
            <a:endParaRPr sz="1600">
              <a:solidFill>
                <a:srgbClr val="000000"/>
              </a:solidFill>
              <a:latin typeface="Consolas" panose="020B0609020204030204"/>
            </a:endParaRPr>
          </a:p>
          <a:p>
            <a:r>
              <a:rPr sz="1600">
                <a:solidFill>
                  <a:srgbClr val="000000"/>
                </a:solidFill>
                <a:latin typeface="Consolas" panose="020B0609020204030204"/>
              </a:rPr>
              <a:t>└── pom.xml               Maven构建</a:t>
            </a:r>
            <a:endParaRPr sz="1600">
              <a:solidFill>
                <a:srgbClr val="000000"/>
              </a:solidFill>
              <a:latin typeface="Consolas" panose="020B0609020204030204"/>
            </a:endParaRPr>
          </a:p>
        </p:txBody>
      </p:sp>
      <p:pic>
        <p:nvPicPr>
          <p:cNvPr id="56324" name="Picture 56323" descr="e02_git_branc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161791"/>
            <a:ext cx="3931920" cy="22717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5" grpId="1" animBg="1"/>
      <p:bldP spid="31745" grpId="3" animBg="1"/>
      <p:bldP spid="31745" grpId="4" bldLvl="0" animBg="1"/>
      <p:bldP spid="31745" grpId="5" animBg="1"/>
      <p:bldP spid="31745" grpId="7" animBg="1"/>
      <p:bldP spid="31745" grpId="9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标题 251905"/>
          <p:cNvSpPr>
            <a:spLocks noGrp="1" noChangeArrowheads="1"/>
          </p:cNvSpPr>
          <p:nvPr>
            <p:ph type="title" idx="4294967295"/>
          </p:nvPr>
        </p:nvSpPr>
        <p:spPr>
          <a:xfrm>
            <a:off x="2346411" y="355601"/>
            <a:ext cx="10871200" cy="990600"/>
          </a:xfrm>
        </p:spPr>
        <p:txBody>
          <a:bodyPr/>
          <a:lstStyle/>
          <a:p>
            <a:r>
              <a:rPr lang="zh-CN" sz="3600" dirty="0">
                <a:latin typeface="华文楷体" panose="02010600040101010101" charset="-122"/>
                <a:ea typeface="华文楷体" panose="02010600040101010101" charset="-122"/>
                <a:sym typeface="+mn-ea"/>
              </a:rPr>
              <a:t>项目配置项清单</a:t>
            </a:r>
            <a:endParaRPr lang="zh-CN" alt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45" name="标题 3"/>
          <p:cNvSpPr>
            <a:spLocks noGrp="1"/>
          </p:cNvSpPr>
          <p:nvPr/>
        </p:nvSpPr>
        <p:spPr>
          <a:xfrm>
            <a:off x="1163955" y="1276350"/>
            <a:ext cx="9964420" cy="1518285"/>
          </a:xfrm>
          <a:solidFill>
            <a:srgbClr val="FFFFFF"/>
          </a:solidFill>
          <a:ln>
            <a:noFill/>
            <a:miter/>
          </a:ln>
        </p:spPr>
        <p:txBody>
          <a:bodyPr anchor="t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latinLnBrk="0" hangingPunct="1">
              <a:lnSpc>
                <a:spcPct val="150000"/>
              </a:lnSpc>
              <a:buFont typeface="Wingdings" panose="05000000000000000000" charset="0"/>
              <a:buNone/>
            </a:pPr>
            <a:r>
              <a:rPr sz="2400" b="1">
                <a:solidFill>
                  <a:srgbClr val="0000FF"/>
                </a:solidFill>
                <a:latin typeface="仿宋" panose="02010609060101010101" charset="-122"/>
              </a:rPr>
              <a:t>配置项分类清单（共 76 项，与配置管理计划一致）：</a:t>
            </a:r>
            <a:endParaRPr lang="zh-CN" altLang="en-US" sz="2800" b="1" kern="1200" dirty="0">
              <a:solidFill>
                <a:srgbClr val="0000FF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宋体" panose="02010600030101010101" pitchFamily="2" charset="-122"/>
            </a:endParaRPr>
          </a:p>
        </p:txBody>
      </p:sp>
      <p:graphicFrame>
        <p:nvGraphicFramePr>
          <p:cNvPr id="56323" name="Table 56322"/>
          <p:cNvGraphicFramePr>
            <a:graphicFrameLocks noGrp="1"/>
          </p:cNvGraphicFramePr>
          <p:nvPr/>
        </p:nvGraphicFramePr>
        <p:xfrm>
          <a:off x="1554480" y="2194560"/>
          <a:ext cx="9326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4572000"/>
              </a:tblGrid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仿宋" panose="02010609060101010101" charset="-122"/>
                        </a:rPr>
                        <a:t>类别码</a:t>
                      </a:r>
                      <a:endParaRPr sz="1800" b="1">
                        <a:solidFill>
                          <a:srgbClr val="FFFFFF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仿宋" panose="02010609060101010101" charset="-122"/>
                        </a:rPr>
                        <a:t>类别</a:t>
                      </a:r>
                      <a:endParaRPr sz="1800" b="1">
                        <a:solidFill>
                          <a:srgbClr val="FFFFFF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仿宋" panose="02010609060101010101" charset="-122"/>
                        </a:rPr>
                        <a:t>示例配置项</a:t>
                      </a:r>
                      <a:endParaRPr sz="1800" b="1">
                        <a:solidFill>
                          <a:srgbClr val="FFFFFF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SC</a:t>
                      </a:r>
                      <a:endParaRPr sz="18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源代码</a:t>
                      </a:r>
                      <a:endParaRPr sz="18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后端 Java / 前端 Vue-TS / 单元测试</a:t>
                      </a:r>
                      <a:endParaRPr sz="18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BS</a:t>
                      </a:r>
                      <a:endParaRPr sz="18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构建脚本</a:t>
                      </a:r>
                      <a:endParaRPr sz="18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pom.xml / package.json / Dockerfile</a:t>
                      </a:r>
                      <a:endParaRPr sz="18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CI</a:t>
                      </a:r>
                      <a:endParaRPr sz="18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CI/CD 流水线</a:t>
                      </a:r>
                      <a:endParaRPr sz="18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Jenkinsfile / GitHub Actions</a:t>
                      </a:r>
                      <a:endParaRPr sz="18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RC</a:t>
                      </a:r>
                      <a:endParaRPr sz="18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运行配置</a:t>
                      </a:r>
                      <a:endParaRPr sz="18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application*.yml / nginx.conf / .env</a:t>
                      </a:r>
                      <a:endParaRPr sz="18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DB</a:t>
                      </a:r>
                      <a:endParaRPr sz="18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数据库脚本</a:t>
                      </a:r>
                      <a:endParaRPr sz="18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schema.sql / data-dev.sql / migration</a:t>
                      </a:r>
                      <a:endParaRPr sz="18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DOC</a:t>
                      </a:r>
                      <a:endParaRPr sz="18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项目文档</a:t>
                      </a:r>
                      <a:endParaRPr sz="18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CMP / 构建指导书 / 部署指南 / 需求</a:t>
                      </a:r>
                      <a:endParaRPr sz="18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BL</a:t>
                      </a:r>
                      <a:endParaRPr sz="18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基线产物</a:t>
                      </a:r>
                      <a:endParaRPr sz="18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git tag / JaCoCo 报告 / Docker 镜像</a:t>
                      </a:r>
                      <a:endParaRPr sz="18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5" grpId="1" animBg="1"/>
      <p:bldP spid="31745" grpId="3" animBg="1"/>
      <p:bldP spid="31745" grpId="4" bldLvl="0" animBg="1"/>
      <p:bldP spid="31745" grpId="5" animBg="1"/>
      <p:bldP spid="31745" grpId="7" animBg="1"/>
      <p:bldP spid="31745" grpId="9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标题 251905"/>
          <p:cNvSpPr>
            <a:spLocks noGrp="1" noChangeArrowheads="1"/>
          </p:cNvSpPr>
          <p:nvPr>
            <p:ph type="title" idx="4294967295"/>
          </p:nvPr>
        </p:nvSpPr>
        <p:spPr>
          <a:xfrm>
            <a:off x="2346411" y="355601"/>
            <a:ext cx="10871200" cy="990600"/>
          </a:xfrm>
        </p:spPr>
        <p:txBody>
          <a:bodyPr/>
          <a:lstStyle/>
          <a:p>
            <a:r>
              <a:rPr lang="zh-CN" sz="3600" dirty="0">
                <a:latin typeface="华文楷体" panose="02010600040101010101" charset="-122"/>
                <a:ea typeface="华文楷体" panose="02010600040101010101" charset="-122"/>
                <a:sym typeface="+mn-ea"/>
              </a:rPr>
              <a:t>成员分支开发、日志提交贡献情况</a:t>
            </a:r>
            <a:endParaRPr lang="zh-CN" alt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45" name="标题 3"/>
          <p:cNvSpPr>
            <a:spLocks noGrp="1"/>
          </p:cNvSpPr>
          <p:nvPr/>
        </p:nvSpPr>
        <p:spPr>
          <a:xfrm>
            <a:off x="1857375" y="1174115"/>
            <a:ext cx="9964420" cy="1518285"/>
          </a:xfrm>
          <a:solidFill>
            <a:srgbClr val="FFFFFF"/>
          </a:solidFill>
          <a:ln>
            <a:noFill/>
            <a:miter/>
          </a:ln>
        </p:spPr>
        <p:txBody>
          <a:bodyPr anchor="t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algn="l" eaLnBrk="1" latinLnBrk="0" hangingPunct="1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sz="2400" b="1">
                <a:solidFill>
                  <a:srgbClr val="0000FF"/>
                </a:solidFill>
                <a:latin typeface="仿宋" panose="02010609060101010101" charset="-122"/>
              </a:rPr>
              <a:t>提交统计：累计 179 次提交，全部由曾志洪独立完成，遵循 Conventional Commits 规范。</a:t>
            </a:r>
            <a:endParaRPr lang="zh-CN" sz="2800" b="1" kern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宋体" panose="02010600030101010101" pitchFamily="2" charset="-122"/>
            </a:endParaRPr>
          </a:p>
          <a:p>
            <a:r>
              <a:rPr sz="2200" b="0">
                <a:solidFill>
                  <a:srgbClr val="000000"/>
                </a:solidFill>
                <a:latin typeface="仿宋" panose="02010609060101010101" charset="-122"/>
              </a:rPr>
              <a:t>分支模型：main(发布基线) / develop(集成) / phase-2/7/10/11(里程碑) / hotfix</a:t>
            </a:r>
            <a:endParaRPr sz="2200" b="0">
              <a:solidFill>
                <a:srgbClr val="000000"/>
              </a:solidFill>
              <a:latin typeface="仿宋" panose="02010609060101010101" charset="-122"/>
            </a:endParaRPr>
          </a:p>
          <a:p>
            <a:r>
              <a:rPr sz="2200" b="1">
                <a:solidFill>
                  <a:srgbClr val="FF0000"/>
                </a:solidFill>
                <a:latin typeface="仿宋" panose="02010609060101010101" charset="-122"/>
              </a:rPr>
              <a:t>提交日志与分支贡献情况截图：</a:t>
            </a:r>
            <a:endParaRPr sz="2200" b="1">
              <a:solidFill>
                <a:srgbClr val="FF0000"/>
              </a:solidFill>
              <a:latin typeface="仿宋" panose="0201060906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6835" y="3615690"/>
            <a:ext cx="5771515" cy="24904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785" y="3336290"/>
            <a:ext cx="6099810" cy="30499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5" grpId="1" animBg="1"/>
      <p:bldP spid="31745" grpId="3" animBg="1"/>
      <p:bldP spid="31745" grpId="4" bldLvl="0" animBg="1"/>
      <p:bldP spid="31745" grpId="5" animBg="1"/>
      <p:bldP spid="31745" grpId="7" animBg="1"/>
      <p:bldP spid="31745" grpId="9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标题 251905"/>
          <p:cNvSpPr>
            <a:spLocks noGrp="1" noChangeArrowheads="1"/>
          </p:cNvSpPr>
          <p:nvPr>
            <p:ph type="title" idx="4294967295"/>
          </p:nvPr>
        </p:nvSpPr>
        <p:spPr>
          <a:xfrm>
            <a:off x="2346411" y="355601"/>
            <a:ext cx="10871200" cy="990600"/>
          </a:xfrm>
        </p:spPr>
        <p:txBody>
          <a:bodyPr/>
          <a:lstStyle/>
          <a:p>
            <a:r>
              <a:rPr lang="zh-CN" sz="3600" dirty="0">
                <a:latin typeface="华文楷体" panose="02010600040101010101" charset="-122"/>
                <a:ea typeface="华文楷体" panose="02010600040101010101" charset="-122"/>
                <a:sym typeface="+mn-ea"/>
              </a:rPr>
              <a:t>项目基线情况</a:t>
            </a:r>
            <a:endParaRPr lang="zh-CN" alt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45" name="标题 3"/>
          <p:cNvSpPr>
            <a:spLocks noGrp="1"/>
          </p:cNvSpPr>
          <p:nvPr/>
        </p:nvSpPr>
        <p:spPr>
          <a:xfrm>
            <a:off x="1857375" y="1174115"/>
            <a:ext cx="9964420" cy="1518285"/>
          </a:xfrm>
          <a:solidFill>
            <a:srgbClr val="FFFFFF"/>
          </a:solidFill>
          <a:ln>
            <a:noFill/>
            <a:miter/>
          </a:ln>
        </p:spPr>
        <p:txBody>
          <a:bodyPr anchor="t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algn="l" eaLnBrk="1" latinLnBrk="0" hangingPunct="1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sz="2400" b="1">
                <a:solidFill>
                  <a:srgbClr val="0000FF"/>
                </a:solidFill>
                <a:latin typeface="仿宋" panose="02010609060101010101" charset="-122"/>
              </a:rPr>
              <a:t>基线规划（符合 SemVer + 里程碑后缀命名规范）：</a:t>
            </a:r>
            <a:endParaRPr lang="zh-CN" sz="2800" b="1" kern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宋体" panose="02010600030101010101" pitchFamily="2" charset="-122"/>
            </a:endParaRPr>
          </a:p>
          <a:p>
            <a:r>
              <a:rPr sz="2200" b="0">
                <a:solidFill>
                  <a:srgbClr val="000000"/>
                </a:solidFill>
                <a:latin typeface="仿宋" panose="02010609060101010101" charset="-122"/>
              </a:rPr>
              <a:t>共建立 8 个基线 tag：1 个功能基线 + 6 个里程碑基线 + 1 个产品基线。</a:t>
            </a:r>
            <a:endParaRPr sz="2200" b="0">
              <a:solidFill>
                <a:srgbClr val="000000"/>
              </a:solidFill>
              <a:latin typeface="仿宋" panose="02010609060101010101" charset="-122"/>
            </a:endParaRPr>
          </a:p>
          <a:p>
            <a:r>
              <a:rPr sz="2200" b="1">
                <a:solidFill>
                  <a:srgbClr val="FF0000"/>
                </a:solidFill>
                <a:latin typeface="仿宋" panose="02010609060101010101" charset="-122"/>
              </a:rPr>
              <a:t>仓库实际基线情况截图：</a:t>
            </a:r>
            <a:endParaRPr sz="2200" b="1">
              <a:solidFill>
                <a:srgbClr val="FF0000"/>
              </a:solidFill>
              <a:latin typeface="仿宋" panose="02010609060101010101" charset="-122"/>
            </a:endParaRPr>
          </a:p>
        </p:txBody>
      </p:sp>
      <p:graphicFrame>
        <p:nvGraphicFramePr>
          <p:cNvPr id="56323" name="Table 56322"/>
          <p:cNvGraphicFramePr>
            <a:graphicFrameLocks noGrp="1"/>
          </p:cNvGraphicFramePr>
          <p:nvPr/>
        </p:nvGraphicFramePr>
        <p:xfrm>
          <a:off x="1554480" y="2926080"/>
          <a:ext cx="6217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2560320"/>
              </a:tblGrid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仿宋" panose="02010609060101010101" charset="-122"/>
                        </a:rPr>
                        <a:t>Tag</a:t>
                      </a:r>
                      <a:endParaRPr sz="1600" b="1">
                        <a:solidFill>
                          <a:srgbClr val="FFFFFF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仿宋" panose="02010609060101010101" charset="-122"/>
                        </a:rPr>
                        <a:t>类型</a:t>
                      </a:r>
                      <a:endParaRPr sz="1600" b="1">
                        <a:solidFill>
                          <a:srgbClr val="FFFFFF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仿宋" panose="02010609060101010101" charset="-122"/>
                        </a:rPr>
                        <a:t>内容</a:t>
                      </a:r>
                      <a:endParaRPr sz="1600" b="1">
                        <a:solidFill>
                          <a:srgbClr val="FFFFFF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v1.0.0-fb</a:t>
                      </a:r>
                      <a:endParaRPr sz="16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功能基线</a:t>
                      </a:r>
                      <a:endParaRPr sz="16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确立 V1 功能边界</a:t>
                      </a:r>
                      <a:endParaRPr sz="16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v1.0.0-m1</a:t>
                      </a:r>
                      <a:endParaRPr sz="16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里程碑</a:t>
                      </a:r>
                      <a:endParaRPr sz="16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H5 基础与演示数据</a:t>
                      </a:r>
                      <a:endParaRPr sz="16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v1.0.0-m4</a:t>
                      </a:r>
                      <a:endParaRPr sz="16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里程碑</a:t>
                      </a:r>
                      <a:endParaRPr sz="16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商品订单与库存金额</a:t>
                      </a:r>
                      <a:endParaRPr sz="16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v1.0.0-m6</a:t>
                      </a:r>
                      <a:endParaRPr sz="16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里程碑</a:t>
                      </a:r>
                      <a:endParaRPr sz="16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发布收口</a:t>
                      </a:r>
                      <a:endParaRPr sz="16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v1.0.0-rc1</a:t>
                      </a:r>
                      <a:endParaRPr sz="16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产品基线</a:t>
                      </a:r>
                      <a:endParaRPr sz="16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仿宋" panose="02010609060101010101" charset="-122"/>
                        </a:rPr>
                        <a:t>全部完成 + CI/CD 全通</a:t>
                      </a:r>
                      <a:endParaRPr sz="1600" b="0">
                        <a:solidFill>
                          <a:srgbClr val="000000"/>
                        </a:solidFill>
                        <a:latin typeface="仿宋" panose="02010609060101010101" charset="-122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56324" name="Picture 56323" descr="e01_git_ta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3657600"/>
            <a:ext cx="3657600" cy="1828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5" grpId="1" animBg="1"/>
      <p:bldP spid="31745" grpId="3" animBg="1"/>
      <p:bldP spid="31745" grpId="4" bldLvl="0" animBg="1"/>
      <p:bldP spid="31745" grpId="5" animBg="1"/>
      <p:bldP spid="31745" grpId="7" animBg="1"/>
      <p:bldP spid="31745" grpId="9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标题 251905"/>
          <p:cNvSpPr>
            <a:spLocks noGrp="1" noChangeArrowheads="1"/>
          </p:cNvSpPr>
          <p:nvPr>
            <p:ph type="title" idx="4294967295"/>
          </p:nvPr>
        </p:nvSpPr>
        <p:spPr>
          <a:xfrm>
            <a:off x="2346411" y="355601"/>
            <a:ext cx="10871200" cy="990600"/>
          </a:xfrm>
        </p:spPr>
        <p:txBody>
          <a:bodyPr/>
          <a:lstStyle/>
          <a:p>
            <a:r>
              <a:rPr lang="zh-CN" sz="3600" dirty="0">
                <a:latin typeface="华文楷体" panose="02010600040101010101" charset="-122"/>
                <a:ea typeface="华文楷体" panose="02010600040101010101" charset="-122"/>
                <a:sym typeface="+mn-ea"/>
              </a:rPr>
              <a:t>项目持续集成演示</a:t>
            </a:r>
            <a:endParaRPr lang="zh-CN" alt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45" name="标题 3"/>
          <p:cNvSpPr>
            <a:spLocks noGrp="1"/>
          </p:cNvSpPr>
          <p:nvPr/>
        </p:nvSpPr>
        <p:spPr>
          <a:xfrm>
            <a:off x="1857375" y="1174115"/>
            <a:ext cx="9964420" cy="1518285"/>
          </a:xfrm>
          <a:solidFill>
            <a:srgbClr val="FFFFFF"/>
          </a:solidFill>
          <a:ln>
            <a:noFill/>
            <a:miter/>
          </a:ln>
        </p:spPr>
        <p:txBody>
          <a:bodyPr anchor="t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algn="l" eaLnBrk="1" latinLnBrk="0" hangingPunct="1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sz="2400" b="1">
                <a:solidFill>
                  <a:srgbClr val="0000FF"/>
                </a:solidFill>
                <a:latin typeface="仿宋" panose="02010609060101010101" charset="-122"/>
              </a:rPr>
              <a:t>CI 流水线（Jenkins 主力 + GitHub Actions 补充）：</a:t>
            </a:r>
            <a:endParaRPr lang="zh-CN" sz="2800" b="1" kern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宋体" panose="02010600030101010101" pitchFamily="2" charset="-122"/>
            </a:endParaRPr>
          </a:p>
          <a:p>
            <a:r>
              <a:rPr sz="2100" b="0">
                <a:solidFill>
                  <a:srgbClr val="000000"/>
                </a:solidFill>
                <a:latin typeface="仿宋" panose="02010609060101010101" charset="-122"/>
              </a:rPr>
              <a:t>编译 → 测试(843) → 打包 → Docker 构建 → 部署 → 健康检查 → 邮件通知，提交即自动触发。</a:t>
            </a:r>
            <a:endParaRPr sz="2100" b="0">
              <a:solidFill>
                <a:srgbClr val="000000"/>
              </a:solidFill>
              <a:latin typeface="仿宋" panose="02010609060101010101" charset="-122"/>
            </a:endParaRPr>
          </a:p>
          <a:p>
            <a:r>
              <a:rPr sz="2100" b="1">
                <a:solidFill>
                  <a:srgbClr val="FF0000"/>
                </a:solidFill>
                <a:latin typeface="仿宋" panose="02010609060101010101" charset="-122"/>
              </a:rPr>
              <a:t>持续集成构建历史与部署运行证据：</a:t>
            </a:r>
            <a:endParaRPr sz="2100" b="1">
              <a:solidFill>
                <a:srgbClr val="FF0000"/>
              </a:solidFill>
              <a:latin typeface="仿宋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0220" y="2809875"/>
            <a:ext cx="6621780" cy="32200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45" y="2959735"/>
            <a:ext cx="4998085" cy="33000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5" grpId="1" animBg="1"/>
      <p:bldP spid="31745" grpId="3" animBg="1"/>
      <p:bldP spid="31745" grpId="4" bldLvl="0" animBg="1"/>
      <p:bldP spid="31745" grpId="5" animBg="1"/>
      <p:bldP spid="31745" grpId="7" animBg="1"/>
      <p:bldP spid="31745" grpId="9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标题 251905"/>
          <p:cNvSpPr>
            <a:spLocks noGrp="1" noChangeArrowheads="1"/>
          </p:cNvSpPr>
          <p:nvPr>
            <p:ph type="title" idx="4294967295"/>
          </p:nvPr>
        </p:nvSpPr>
        <p:spPr>
          <a:xfrm>
            <a:off x="2346411" y="355601"/>
            <a:ext cx="10871200" cy="990600"/>
          </a:xfrm>
        </p:spPr>
        <p:txBody>
          <a:bodyPr/>
          <a:lstStyle/>
          <a:p>
            <a:r>
              <a:rPr lang="zh-CN" sz="3600" dirty="0">
                <a:latin typeface="华文楷体" panose="02010600040101010101" charset="-122"/>
                <a:ea typeface="华文楷体" panose="02010600040101010101" charset="-122"/>
                <a:sym typeface="+mn-ea"/>
              </a:rPr>
              <a:t>创新点、待改进、总结</a:t>
            </a:r>
            <a:endParaRPr lang="zh-CN" alt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45" name="标题 3"/>
          <p:cNvSpPr>
            <a:spLocks noGrp="1"/>
          </p:cNvSpPr>
          <p:nvPr/>
        </p:nvSpPr>
        <p:spPr>
          <a:xfrm>
            <a:off x="1857375" y="1174115"/>
            <a:ext cx="9964420" cy="1518285"/>
          </a:xfrm>
          <a:solidFill>
            <a:srgbClr val="FFFFFF"/>
          </a:solidFill>
          <a:ln>
            <a:noFill/>
            <a:miter/>
          </a:ln>
        </p:spPr>
        <p:txBody>
          <a:bodyPr anchor="t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latinLnBrk="0" hangingPunct="1">
              <a:lnSpc>
                <a:spcPct val="150000"/>
              </a:lnSpc>
              <a:buFont typeface="Wingdings" panose="05000000000000000000" charset="0"/>
              <a:buNone/>
            </a:pPr>
            <a:r>
              <a:rPr sz="2400" b="1">
                <a:solidFill>
                  <a:srgbClr val="0000FF"/>
                </a:solidFill>
                <a:latin typeface="仿宋" panose="02010609060101010101" charset="-122"/>
              </a:rPr>
              <a:t>一、创新点 / 亮点</a:t>
            </a:r>
            <a:endParaRPr lang="zh-CN" sz="2800" b="1" kern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宋体" panose="02010600030101010101" pitchFamily="2" charset="-122"/>
            </a:endParaRPr>
          </a:p>
          <a:p>
            <a:r>
              <a:rPr sz="2000" b="0">
                <a:solidFill>
                  <a:srgbClr val="000000"/>
                </a:solidFill>
                <a:latin typeface="仿宋" panose="02010609060101010101" charset="-122"/>
              </a:rPr>
              <a:t>1. 双 CI 互补：Jenkins 主力全流程，GitHub Actions 三 job 并行验证。</a:t>
            </a:r>
            <a:endParaRPr sz="2000" b="0">
              <a:solidFill>
                <a:srgbClr val="000000"/>
              </a:solidFill>
              <a:latin typeface="仿宋" panose="02010609060101010101" charset="-122"/>
            </a:endParaRPr>
          </a:p>
          <a:p>
            <a:r>
              <a:rPr sz="2000" b="0">
                <a:solidFill>
                  <a:srgbClr val="000000"/>
                </a:solidFill>
                <a:latin typeface="仿宋" panose="02010609060101010101" charset="-122"/>
              </a:rPr>
              <a:t>2. Docker 多阶段构建：maven 编译 + JRE 运行，镜像更小，非 root 运行 + 健康检查。</a:t>
            </a:r>
            <a:endParaRPr sz="2000" b="0">
              <a:solidFill>
                <a:srgbClr val="000000"/>
              </a:solidFill>
              <a:latin typeface="仿宋" panose="02010609060101010101" charset="-122"/>
            </a:endParaRPr>
          </a:p>
          <a:p>
            <a:r>
              <a:rPr sz="2000" b="0">
                <a:solidFill>
                  <a:srgbClr val="000000"/>
                </a:solidFill>
                <a:latin typeface="仿宋" panose="02010609060101010101" charset="-122"/>
              </a:rPr>
              <a:t>3. 一键部署健康关门：docker compose up --wait 一条命令完成构建/初始化/启动/健康检查。</a:t>
            </a:r>
            <a:endParaRPr sz="2000" b="0">
              <a:solidFill>
                <a:srgbClr val="000000"/>
              </a:solidFill>
              <a:latin typeface="仿宋" panose="02010609060101010101" charset="-122"/>
            </a:endParaRPr>
          </a:p>
          <a:p>
            <a:r>
              <a:rPr sz="2000" b="0">
                <a:solidFill>
                  <a:srgbClr val="000000"/>
                </a:solidFill>
                <a:latin typeface="仿宋" panose="02010609060101010101" charset="-122"/>
              </a:rPr>
              <a:t>4. SCM 全闭环：8 基线 + 76 配置项 + 2 变更单 + 第 16 周审计证据，可审计可追溯。</a:t>
            </a:r>
            <a:endParaRPr sz="2000" b="0">
              <a:solidFill>
                <a:srgbClr val="000000"/>
              </a:solidFill>
              <a:latin typeface="仿宋" panose="02010609060101010101" charset="-122"/>
            </a:endParaRPr>
          </a:p>
          <a:p>
            <a:r>
              <a:rPr sz="2400" b="1">
                <a:solidFill>
                  <a:srgbClr val="0000FF"/>
                </a:solidFill>
                <a:latin typeface="仿宋" panose="02010609060101010101" charset="-122"/>
              </a:rPr>
              <a:t>二、待改进</a:t>
            </a:r>
            <a:endParaRPr sz="2400" b="1">
              <a:solidFill>
                <a:srgbClr val="0000FF"/>
              </a:solidFill>
              <a:latin typeface="仿宋" panose="02010609060101010101" charset="-122"/>
            </a:endParaRPr>
          </a:p>
          <a:p>
            <a:r>
              <a:rPr sz="2000" b="0">
                <a:solidFill>
                  <a:srgbClr val="000000"/>
                </a:solidFill>
                <a:latin typeface="仿宋" panose="02010609060101010101" charset="-122"/>
              </a:rPr>
              <a:t>1. 未引入 allure 测试报告（用 JaCoCo 覆盖率代替），可视化待加强。</a:t>
            </a:r>
            <a:endParaRPr sz="2000" b="0">
              <a:solidFill>
                <a:srgbClr val="000000"/>
              </a:solidFill>
              <a:latin typeface="仿宋" panose="02010609060101010101" charset="-122"/>
            </a:endParaRPr>
          </a:p>
          <a:p>
            <a:r>
              <a:rPr sz="2000" b="0">
                <a:solidFill>
                  <a:srgbClr val="000000"/>
                </a:solidFill>
                <a:latin typeface="仿宋" panose="02010609060101010101" charset="-122"/>
              </a:rPr>
              <a:t>2. 前端覆盖率默认未启用，仅后端有 JaCoCo 覆盖率。</a:t>
            </a:r>
            <a:endParaRPr sz="2000" b="0">
              <a:solidFill>
                <a:srgbClr val="000000"/>
              </a:solidFill>
              <a:latin typeface="仿宋" panose="02010609060101010101" charset="-122"/>
            </a:endParaRPr>
          </a:p>
          <a:p>
            <a:r>
              <a:rPr sz="2400" b="1">
                <a:solidFill>
                  <a:srgbClr val="0000FF"/>
                </a:solidFill>
                <a:latin typeface="仿宋" panose="02010609060101010101" charset="-122"/>
              </a:rPr>
              <a:t>三、总结</a:t>
            </a:r>
            <a:endParaRPr sz="2400" b="1">
              <a:solidFill>
                <a:srgbClr val="0000FF"/>
              </a:solidFill>
              <a:latin typeface="仿宋" panose="02010609060101010101" charset="-122"/>
            </a:endParaRPr>
          </a:p>
          <a:p>
            <a:r>
              <a:rPr sz="2000" b="0">
                <a:solidFill>
                  <a:srgbClr val="000000"/>
                </a:solidFill>
                <a:latin typeface="仿宋" panose="02010609060101010101" charset="-122"/>
              </a:rPr>
              <a:t>独立完成从需求到产品基线的全流程 SCM 实践，掌握了 Git 分支策略、基线与变更控制、CI/CD 与容器化部署。</a:t>
            </a:r>
            <a:endParaRPr sz="2000" b="0">
              <a:solidFill>
                <a:srgbClr val="000000"/>
              </a:solidFill>
              <a:latin typeface="仿宋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5" grpId="1" animBg="1"/>
      <p:bldP spid="31745" grpId="3" animBg="1"/>
      <p:bldP spid="31745" grpId="4" bldLvl="0" animBg="1"/>
      <p:bldP spid="31745" grpId="5" animBg="1"/>
      <p:bldP spid="31745" grpId="7" animBg="1"/>
      <p:bldP spid="31745" grpId="9" animBg="1"/>
    </p:bldLst>
  </p:timing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1525c5d7b35515ba1cbd9e9826071bb902808a8"/>
  <p:tag name="KSO_WM_NEWLAYOUT_ID" val="10"/>
</p:tagLst>
</file>

<file path=ppt/tags/tag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993399"/>
      </a:dk1>
      <a:lt1>
        <a:srgbClr val="FFFFFF"/>
      </a:lt1>
      <a:dk2>
        <a:srgbClr val="000000"/>
      </a:dk2>
      <a:lt2>
        <a:srgbClr val="FFFFFF"/>
      </a:lt2>
      <a:accent1>
        <a:srgbClr val="FF6633"/>
      </a:accent1>
      <a:accent2>
        <a:srgbClr val="B9D300"/>
      </a:accent2>
      <a:accent3>
        <a:srgbClr val="AAAAAA"/>
      </a:accent3>
      <a:accent4>
        <a:srgbClr val="DADADA"/>
      </a:accent4>
      <a:accent5>
        <a:srgbClr val="FFB8AD"/>
      </a:accent5>
      <a:accent6>
        <a:srgbClr val="A7BF00"/>
      </a:accent6>
      <a:hlink>
        <a:srgbClr val="62BD19"/>
      </a:hlink>
      <a:folHlink>
        <a:srgbClr val="993399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Custom Design 1">
        <a:dk1>
          <a:srgbClr val="993399"/>
        </a:dk1>
        <a:lt1>
          <a:srgbClr val="FFFFFF"/>
        </a:lt1>
        <a:dk2>
          <a:srgbClr val="000000"/>
        </a:dk2>
        <a:lt2>
          <a:srgbClr val="FFFFFF"/>
        </a:lt2>
        <a:accent1>
          <a:srgbClr val="FF6633"/>
        </a:accent1>
        <a:accent2>
          <a:srgbClr val="B9D300"/>
        </a:accent2>
        <a:accent3>
          <a:srgbClr val="AAAAAA"/>
        </a:accent3>
        <a:accent4>
          <a:srgbClr val="DADADA"/>
        </a:accent4>
        <a:accent5>
          <a:srgbClr val="FFB8AD"/>
        </a:accent5>
        <a:accent6>
          <a:srgbClr val="A7BF00"/>
        </a:accent6>
        <a:hlink>
          <a:srgbClr val="62BD19"/>
        </a:hlink>
        <a:folHlink>
          <a:srgbClr val="99339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2214</Words>
  <Application>WPS 演示</Application>
  <PresentationFormat>宽屏</PresentationFormat>
  <Paragraphs>171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Calibri</vt:lpstr>
      <vt:lpstr>Wingdings</vt:lpstr>
      <vt:lpstr>华文楷体</vt:lpstr>
      <vt:lpstr>Calibri Light</vt:lpstr>
      <vt:lpstr>仿宋</vt:lpstr>
      <vt:lpstr>Consolas</vt:lpstr>
      <vt:lpstr>Arial Unicode MS</vt:lpstr>
      <vt:lpstr>等线</vt:lpstr>
      <vt:lpstr>等线 Light</vt:lpstr>
      <vt:lpstr>Office 主题​​</vt:lpstr>
      <vt:lpstr>Custom Design</vt:lpstr>
      <vt:lpstr>PetCare O2O小组 期末验收报告 小组成员：曾志洪（2320160033）</vt:lpstr>
      <vt:lpstr>主要内容</vt:lpstr>
      <vt:lpstr>项目概述</vt:lpstr>
      <vt:lpstr>小组分工及贡献</vt:lpstr>
      <vt:lpstr>项目仓库目录结构</vt:lpstr>
      <vt:lpstr>项目配置项清单</vt:lpstr>
      <vt:lpstr>成员分支开发、日志提交贡献情况</vt:lpstr>
      <vt:lpstr>项目基线情况</vt:lpstr>
      <vt:lpstr>项目持续集成演示</vt:lpstr>
      <vt:lpstr>创新点、待改进、总结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平行线</cp:lastModifiedBy>
  <cp:revision>163</cp:revision>
  <dcterms:created xsi:type="dcterms:W3CDTF">2019-06-19T02:08:00Z</dcterms:created>
  <dcterms:modified xsi:type="dcterms:W3CDTF">2026-06-27T12:02:05Z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2052-12.1.0.26884</vt:lpwstr>
  </property>
  <property fmtid="{D5CDD505-2E9C-101B-9397-08002B2CF9AE}" pid="3" name="ICV">
    <vt:lpwstr>1D8DCBD0F29644ED8C3C10F78CC355CB_13</vt:lpwstr>
  </property>
</Properties>
</file>